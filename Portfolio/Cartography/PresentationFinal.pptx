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5"/>
  </p:notesMasterIdLst>
  <p:handoutMasterIdLst>
    <p:handoutMasterId r:id="rId16"/>
  </p:handoutMasterIdLst>
  <p:sldIdLst>
    <p:sldId id="278" r:id="rId5"/>
    <p:sldId id="283" r:id="rId6"/>
    <p:sldId id="293" r:id="rId7"/>
    <p:sldId id="295" r:id="rId8"/>
    <p:sldId id="294" r:id="rId9"/>
    <p:sldId id="296" r:id="rId10"/>
    <p:sldId id="297" r:id="rId11"/>
    <p:sldId id="282" r:id="rId12"/>
    <p:sldId id="284" r:id="rId13"/>
    <p:sldId id="29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152" autoAdjust="0"/>
  </p:normalViewPr>
  <p:slideViewPr>
    <p:cSldViewPr snapToGrid="0">
      <p:cViewPr varScale="1">
        <p:scale>
          <a:sx n="92" d="100"/>
          <a:sy n="92" d="100"/>
        </p:scale>
        <p:origin x="1254" y="96"/>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10/13/2025</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10/13/2025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Los_Angeles_County%2C_California?utm_source=chatgpt.com#cite_note-MENA-26"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Greetings and welcome to my presentation: “Comparing Air Pollution to Racial Demographics in the County of Los Angeles</a:t>
            </a:r>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 will be investigating is if inventoried air pollution is higher in areas with higher minority population</a:t>
            </a:r>
            <a:br>
              <a:rPr lang="en-US" dirty="0"/>
            </a:br>
            <a:br>
              <a:rPr lang="en-US" dirty="0"/>
            </a:br>
            <a:r>
              <a:rPr lang="en-US" dirty="0"/>
              <a:t>I used two datasets for this analysis.</a:t>
            </a:r>
            <a:br>
              <a:rPr lang="en-US" dirty="0"/>
            </a:br>
            <a:br>
              <a:rPr lang="en-US" dirty="0"/>
            </a:br>
            <a:r>
              <a:rPr lang="en-US" dirty="0"/>
              <a:t>The EPA’s Toxic Release Inventory</a:t>
            </a:r>
            <a:br>
              <a:rPr lang="en-US" dirty="0"/>
            </a:br>
            <a:br>
              <a:rPr lang="en-US" dirty="0"/>
            </a:br>
            <a:r>
              <a:rPr lang="en-US" dirty="0"/>
              <a:t>&amp;</a:t>
            </a:r>
          </a:p>
          <a:p>
            <a:endParaRPr lang="en-US" dirty="0"/>
          </a:p>
          <a:p>
            <a:r>
              <a:rPr lang="en-US" dirty="0"/>
              <a:t>The Census Bureau’s American Community Survey</a:t>
            </a:r>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223163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Angeles County, it has a lot of urban “spawl”</a:t>
            </a:r>
            <a:br>
              <a:rPr lang="en-US" dirty="0"/>
            </a:br>
            <a:br>
              <a:rPr lang="en-US" dirty="0"/>
            </a:br>
            <a:r>
              <a:rPr lang="en-US" dirty="0"/>
              <a:t>While it is the most populous county, it is also very large at just over 4,000 sq mi making it much lower density than many other counties like San Francisco or counties on the east coast.</a:t>
            </a:r>
          </a:p>
          <a:p>
            <a:endParaRPr lang="en-US" dirty="0"/>
          </a:p>
          <a:p>
            <a:r>
              <a:rPr lang="en-US" dirty="0"/>
              <a:t>The large area and high population result in about 2,500 census tracts</a:t>
            </a:r>
          </a:p>
          <a:p>
            <a:endParaRPr lang="en-US" dirty="0"/>
          </a:p>
          <a:p>
            <a:r>
              <a:rPr lang="en-US" dirty="0"/>
              <a:t>Seen here are the City of Los Angeles and other highly populated suburbs</a:t>
            </a:r>
          </a:p>
          <a:p>
            <a:endParaRPr lang="en-US" dirty="0"/>
          </a:p>
          <a:p>
            <a:r>
              <a:rPr lang="en-US" dirty="0"/>
              <a:t>The city of Los Angeles itself is also very large and extends up into the San Fernando Valley</a:t>
            </a:r>
          </a:p>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1032506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over 300 sites inventorying air pollution.</a:t>
            </a:r>
          </a:p>
          <a:p>
            <a:endParaRPr lang="en-US" dirty="0"/>
          </a:p>
          <a:p>
            <a:r>
              <a:rPr lang="en-US" dirty="0"/>
              <a:t>Represented here are the sum of stack emissions which are discharges that occur through confined air streams such as stacks, ducts or pipes – as well as escape or “fugitive” releases that include equipment leaks, building ventilation, and evaporative losses.</a:t>
            </a:r>
          </a:p>
          <a:p>
            <a:endParaRPr lang="en-US" dirty="0"/>
          </a:p>
          <a:p>
            <a:r>
              <a:rPr lang="en-US" dirty="0"/>
              <a:t>At 832,672 </a:t>
            </a:r>
            <a:r>
              <a:rPr lang="en-US" dirty="0" err="1"/>
              <a:t>lbs</a:t>
            </a:r>
            <a:r>
              <a:rPr lang="en-US" dirty="0"/>
              <a:t> in 2023, Tesoro Carson Refinery was the largest emitter. Refineries also accounted for the next top 4 emitters and several of the other larger emitters.</a:t>
            </a:r>
          </a:p>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3332520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48367-C6F8-AD91-A6B2-70FC45F52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753BB-A401-6DB5-1DB4-866CDB9E5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5BF0EF-30DC-7D67-94B6-E9637CDA05E5}"/>
              </a:ext>
            </a:extLst>
          </p:cNvPr>
          <p:cNvSpPr>
            <a:spLocks noGrp="1"/>
          </p:cNvSpPr>
          <p:nvPr>
            <p:ph type="body" idx="1"/>
          </p:nvPr>
        </p:nvSpPr>
        <p:spPr/>
        <p:txBody>
          <a:bodyPr/>
          <a:lstStyle/>
          <a:p>
            <a:r>
              <a:rPr lang="en-US" dirty="0"/>
              <a:t>Just a quick current events regarding one of the inventory sites: [slide]</a:t>
            </a:r>
          </a:p>
          <a:p>
            <a:endParaRPr lang="en-US" dirty="0"/>
          </a:p>
          <a:p>
            <a:r>
              <a:rPr lang="en-US" dirty="0"/>
              <a:t>It also serves as a reminder that not all air pollution is inventoried such as those occurring through catastrophic events like these.</a:t>
            </a:r>
          </a:p>
          <a:p>
            <a:endParaRPr lang="en-US" dirty="0"/>
          </a:p>
          <a:p>
            <a:endParaRPr lang="en-US" dirty="0"/>
          </a:p>
        </p:txBody>
      </p:sp>
      <p:sp>
        <p:nvSpPr>
          <p:cNvPr id="4" name="Slide Number Placeholder 3">
            <a:extLst>
              <a:ext uri="{FF2B5EF4-FFF2-40B4-BE49-F238E27FC236}">
                <a16:creationId xmlns:a16="http://schemas.microsoft.com/office/drawing/2014/main" id="{C6472ACF-5E31-0225-1751-DA6D4382D1A8}"/>
              </a:ext>
            </a:extLst>
          </p:cNvPr>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1755195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this analysis, “Minority” is all individuals not identifying as “white” on the race question on the ACS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calculation to determine the percentage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Hispanic is an ethnic qualifier but White-Hispanics were not separated and not included in the “minority” designation in this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Hispanics of any race (including white) 4.7 million 49%</a:t>
            </a:r>
            <a:br>
              <a:rPr lang="en-US" dirty="0"/>
            </a:br>
            <a:r>
              <a:rPr lang="en-US" dirty="0"/>
              <a:t>Non-Hispanic Whites</a:t>
            </a:r>
            <a:r>
              <a:rPr lang="en-US" baseline="30000" dirty="0">
                <a:hlinkClick r:id="rId3"/>
              </a:rPr>
              <a:t>[26]</a:t>
            </a:r>
            <a:r>
              <a:rPr lang="en-US" dirty="0"/>
              <a:t> 2.4 25%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Highest Minority Populations south and east from downtown Los Angeles. Lowest areas along the coasts and hills and mountains</a:t>
            </a:r>
          </a:p>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6</a:t>
            </a:fld>
            <a:endParaRPr lang="en-US" dirty="0"/>
          </a:p>
        </p:txBody>
      </p:sp>
    </p:spTree>
    <p:extLst>
      <p:ext uri="{BB962C8B-B14F-4D97-AF65-F5344CB8AC3E}">
        <p14:creationId xmlns:p14="http://schemas.microsoft.com/office/powerpoint/2010/main" val="2084742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emitters are located in unpopulated industrial zone tracts.</a:t>
            </a:r>
          </a:p>
          <a:p>
            <a:endParaRPr lang="en-US" dirty="0"/>
          </a:p>
          <a:p>
            <a:r>
              <a:rPr lang="en-US" dirty="0"/>
              <a:t>Air pollution is not static, 1 km buffer was used to determine affected census tracts. Fraction of buffer determined fraction of total value to include in census tract sum.</a:t>
            </a:r>
          </a:p>
          <a:p>
            <a:endParaRPr lang="en-US" dirty="0"/>
          </a:p>
          <a:p>
            <a:r>
              <a:rPr lang="en-US" dirty="0"/>
              <a:t>In depth analysis would require consultation with a subject matter expert about prevailing winds and overall effect area of each site</a:t>
            </a:r>
          </a:p>
        </p:txBody>
      </p:sp>
      <p:sp>
        <p:nvSpPr>
          <p:cNvPr id="4" name="Slide Number Placeholder 3"/>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2448880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perspective – percentage minority population along the x and total pollution along the y.</a:t>
            </a:r>
          </a:p>
          <a:p>
            <a:endParaRPr lang="en-US" dirty="0"/>
          </a:p>
          <a:p>
            <a:r>
              <a:rPr lang="en-US" dirty="0"/>
              <a:t>Tableau will only display values with NULL in one of the axes if it is defaulted to “0”. Pollution in unpopulated tracts shown as “0% minority”</a:t>
            </a:r>
          </a:p>
          <a:p>
            <a:endParaRPr lang="en-US" dirty="0"/>
          </a:p>
          <a:p>
            <a:r>
              <a:rPr lang="en-US" dirty="0"/>
              <a:t>No linear correlation apparent though there may be more sites in total in areas with higher minority population.</a:t>
            </a:r>
          </a:p>
        </p:txBody>
      </p:sp>
      <p:sp>
        <p:nvSpPr>
          <p:cNvPr id="4" name="Slide Number Placeholder 3"/>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only includes inventoried air pollution and does not include pollution from sources like vehicles or residential sources.</a:t>
            </a:r>
          </a:p>
          <a:p>
            <a:endParaRPr lang="en-US" dirty="0"/>
          </a:p>
          <a:p>
            <a:r>
              <a:rPr lang="en-US" dirty="0"/>
              <a:t>As mentioned before, wind dispersal patterns were not included in this analysis but would significantly improve accuracy of effect.</a:t>
            </a:r>
          </a:p>
          <a:p>
            <a:endParaRPr lang="en-US" dirty="0"/>
          </a:p>
          <a:p>
            <a:r>
              <a:rPr lang="en-US" dirty="0"/>
              <a:t>ACS census tract used for this analysis, decennial census gives information down to block level which would improve accuracy.</a:t>
            </a:r>
          </a:p>
          <a:p>
            <a:endParaRPr lang="en-US" dirty="0"/>
          </a:p>
          <a:p>
            <a:r>
              <a:rPr lang="en-US" dirty="0"/>
              <a:t>Should re-run analysis including white-Hispanics in “minority” group to see if effect changes.</a:t>
            </a:r>
          </a:p>
        </p:txBody>
      </p:sp>
      <p:sp>
        <p:nvSpPr>
          <p:cNvPr id="4" name="Slide Number Placeholder 3"/>
          <p:cNvSpPr>
            <a:spLocks noGrp="1"/>
          </p:cNvSpPr>
          <p:nvPr>
            <p:ph type="sldNum" sz="quarter" idx="5"/>
          </p:nvPr>
        </p:nvSpPr>
        <p:spPr/>
        <p:txBody>
          <a:bodyPr/>
          <a:lstStyle/>
          <a:p>
            <a:fld id="{E7AF00E9-A49D-4007-B3B9-A3783809E505}" type="slidenum">
              <a:rPr lang="en-US" smtClean="0"/>
              <a:t>9</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377CC-0140-E08F-A79F-9542B0FE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3FCD4-E99F-B33B-3C0C-793CF381A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16387-007D-EAF9-230A-7818E5337876}"/>
              </a:ext>
            </a:extLst>
          </p:cNvPr>
          <p:cNvSpPr>
            <a:spLocks noGrp="1"/>
          </p:cNvSpPr>
          <p:nvPr>
            <p:ph type="body" idx="1"/>
          </p:nvPr>
        </p:nvSpPr>
        <p:spPr/>
        <p:txBody>
          <a:bodyPr/>
          <a:lstStyle/>
          <a:p>
            <a:br>
              <a:rPr lang="en-US" dirty="0"/>
            </a:br>
            <a:br>
              <a:rPr lang="en-US" dirty="0"/>
            </a:br>
            <a:r>
              <a:rPr lang="en-US" dirty="0"/>
              <a:t>I used two datasets for this analysis.</a:t>
            </a:r>
            <a:br>
              <a:rPr lang="en-US" dirty="0"/>
            </a:br>
            <a:br>
              <a:rPr lang="en-US" dirty="0"/>
            </a:br>
            <a:r>
              <a:rPr lang="en-US" dirty="0"/>
              <a:t>The EPA’s Toxic Release Inventory</a:t>
            </a:r>
            <a:br>
              <a:rPr lang="en-US" dirty="0"/>
            </a:br>
            <a:br>
              <a:rPr lang="en-US" dirty="0"/>
            </a:br>
            <a:r>
              <a:rPr lang="en-US" dirty="0"/>
              <a:t>&amp;</a:t>
            </a:r>
          </a:p>
          <a:p>
            <a:endParaRPr lang="en-US" dirty="0"/>
          </a:p>
          <a:p>
            <a:r>
              <a:rPr lang="en-US" dirty="0"/>
              <a:t>The Census Bureau’s American Community Survey</a:t>
            </a:r>
          </a:p>
        </p:txBody>
      </p:sp>
      <p:sp>
        <p:nvSpPr>
          <p:cNvPr id="4" name="Slide Number Placeholder 3">
            <a:extLst>
              <a:ext uri="{FF2B5EF4-FFF2-40B4-BE49-F238E27FC236}">
                <a16:creationId xmlns:a16="http://schemas.microsoft.com/office/drawing/2014/main" id="{C6DD2881-1943-27F2-F344-1B81B02B4E6B}"/>
              </a:ext>
            </a:extLst>
          </p:cNvPr>
          <p:cNvSpPr>
            <a:spLocks noGrp="1"/>
          </p:cNvSpPr>
          <p:nvPr>
            <p:ph type="sldNum" sz="quarter" idx="5"/>
          </p:nvPr>
        </p:nvSpPr>
        <p:spPr/>
        <p:txBody>
          <a:bodyPr/>
          <a:lstStyle/>
          <a:p>
            <a:fld id="{E7AF00E9-A49D-4007-B3B9-A3783809E505}" type="slidenum">
              <a:rPr lang="en-US" smtClean="0"/>
              <a:t>10</a:t>
            </a:fld>
            <a:endParaRPr lang="en-US" dirty="0"/>
          </a:p>
        </p:txBody>
      </p:sp>
    </p:spTree>
    <p:extLst>
      <p:ext uri="{BB962C8B-B14F-4D97-AF65-F5344CB8AC3E}">
        <p14:creationId xmlns:p14="http://schemas.microsoft.com/office/powerpoint/2010/main" val="4272513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0" name="Group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reeform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Freeform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Freeform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icture Placeholder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409742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287663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4073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721" r:id="rId15"/>
    <p:sldLayoutId id="2147483728" r:id="rId16"/>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public.tableau.com/views/PollutionandRaceinLACounty/CountyofLosAngeles?:language=en-US&amp;:sid=&amp;:redirect=auth&amp;:display_count=n&amp;:origin=viz_share_link"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Oval 16">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9" name="Group 18">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20" name="Freeform: Shape 19">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Oval 21">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Oval 22">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5" name="Rectangle 24">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13">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a:xfrm>
            <a:off x="20" y="1"/>
            <a:ext cx="1219198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27" name="Rectangle 26">
            <a:extLst>
              <a:ext uri="{FF2B5EF4-FFF2-40B4-BE49-F238E27FC236}">
                <a16:creationId xmlns:a16="http://schemas.microsoft.com/office/drawing/2014/main" id="{AD4EA4DF-0E7C-4098-86F6-7D0ACAEFC0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332287" y="0"/>
            <a:ext cx="7859713" cy="6857998"/>
          </a:xfrm>
          <a:prstGeom prst="rect">
            <a:avLst/>
          </a:prstGeom>
          <a:gradFill flip="none" rotWithShape="1">
            <a:gsLst>
              <a:gs pos="50000">
                <a:schemeClr val="bg2">
                  <a:alpha val="60000"/>
                </a:schemeClr>
              </a:gs>
              <a:gs pos="0">
                <a:schemeClr val="bg2">
                  <a:alpha val="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xfrm>
            <a:off x="6616460" y="1985412"/>
            <a:ext cx="5140180" cy="2887174"/>
          </a:xfrm>
        </p:spPr>
        <p:txBody>
          <a:bodyPr vert="horz" wrap="square" lIns="0" tIns="0" rIns="0" bIns="0" rtlCol="0" anchor="b" anchorCtr="0">
            <a:normAutofit fontScale="90000"/>
          </a:bodyPr>
          <a:lstStyle/>
          <a:p>
            <a:pPr algn="ctr">
              <a:lnSpc>
                <a:spcPct val="100000"/>
              </a:lnSpc>
            </a:pPr>
            <a:r>
              <a:rPr lang="en-US" dirty="0"/>
              <a:t>Comparing Air Pollution to Racial Demographics in the</a:t>
            </a:r>
            <a:br>
              <a:rPr lang="en-US" dirty="0"/>
            </a:br>
            <a:r>
              <a:rPr lang="en-US" dirty="0"/>
              <a:t>County of Los Angeles</a:t>
            </a:r>
            <a:endParaRPr lang="en-US" kern="1200" dirty="0">
              <a:solidFill>
                <a:schemeClr val="tx1"/>
              </a:solidFill>
              <a:latin typeface="+mj-lt"/>
              <a:ea typeface="+mj-ea"/>
              <a:cs typeface="+mj-cs"/>
            </a:endParaRPr>
          </a:p>
        </p:txBody>
      </p:sp>
      <p:sp>
        <p:nvSpPr>
          <p:cNvPr id="29" name="Rectangle 28">
            <a:extLst>
              <a:ext uri="{FF2B5EF4-FFF2-40B4-BE49-F238E27FC236}">
                <a16:creationId xmlns:a16="http://schemas.microsoft.com/office/drawing/2014/main" id="{FE05BC49-0F00-4C85-9AF5-A0CC5B39C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Oval 30">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Oval 31">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3" name="Group 32">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34" name="Freeform: Shape 33">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Oval 35">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Oval 36">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38" name="Rectangle 37">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17">
            <a:extLst>
              <a:ext uri="{FF2B5EF4-FFF2-40B4-BE49-F238E27FC236}">
                <a16:creationId xmlns:a16="http://schemas.microsoft.com/office/drawing/2014/main" id="{58104626-8F66-9575-5E49-2907EACF11C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5730"/>
          <a:stretch>
            <a:fillRect/>
          </a:stretch>
        </p:blipFill>
        <p:spPr>
          <a:xfrm>
            <a:off x="20" y="1"/>
            <a:ext cx="1219198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accent5"/>
          </a:solidFill>
          <a:effectLst>
            <a:outerShdw blurRad="50800" dist="50800" dir="5400000" algn="ctr" rotWithShape="0">
              <a:schemeClr val="bg1"/>
            </a:outerShdw>
          </a:effectLst>
        </p:spPr>
      </p:pic>
      <p:sp>
        <p:nvSpPr>
          <p:cNvPr id="39" name="Rectangle 38">
            <a:extLst>
              <a:ext uri="{FF2B5EF4-FFF2-40B4-BE49-F238E27FC236}">
                <a16:creationId xmlns:a16="http://schemas.microsoft.com/office/drawing/2014/main" id="{E49CA12F-6E27-4C54-88C4-EE6CE7C47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2"/>
            <a:ext cx="12192000" cy="4857751"/>
          </a:xfrm>
          <a:prstGeom prst="rect">
            <a:avLst/>
          </a:prstGeom>
          <a:gradFill flip="none" rotWithShape="1">
            <a:gsLst>
              <a:gs pos="70000">
                <a:schemeClr val="bg2">
                  <a:alpha val="60000"/>
                </a:schemeClr>
              </a:gs>
              <a:gs pos="26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559063" y="620918"/>
            <a:ext cx="7308849" cy="984885"/>
          </a:xfrm>
        </p:spPr>
        <p:txBody>
          <a:bodyPr vert="horz" wrap="square" lIns="0" tIns="0" rIns="0" bIns="0" rtlCol="0" anchor="ctr" anchorCtr="0">
            <a:normAutofit fontScale="90000"/>
          </a:bodyPr>
          <a:lstStyle/>
          <a:p>
            <a:pPr algn="ctr">
              <a:lnSpc>
                <a:spcPct val="100000"/>
              </a:lnSpc>
            </a:pPr>
            <a:r>
              <a:rPr lang="en-US" sz="4800" dirty="0"/>
              <a:t>Is inventoried air pollution higher in areas with higher minority population?</a:t>
            </a:r>
            <a:endParaRPr lang="en-US" sz="48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198833" y="2752932"/>
            <a:ext cx="3563938" cy="3820064"/>
          </a:xfrm>
          <a:solidFill>
            <a:schemeClr val="bg1">
              <a:alpha val="45000"/>
            </a:schemeClr>
          </a:solidFill>
          <a:effectLst>
            <a:outerShdw blurRad="50800" dist="38100" dir="2700000" algn="tl" rotWithShape="0">
              <a:prstClr val="black">
                <a:alpha val="40000"/>
              </a:prstClr>
            </a:outerShdw>
          </a:effectLst>
        </p:spPr>
        <p:txBody>
          <a:bodyPr vert="horz" wrap="square" lIns="0" tIns="0" rIns="0" bIns="0" rtlCol="0" anchor="ctr">
            <a:normAutofit/>
          </a:bodyPr>
          <a:lstStyle/>
          <a:p>
            <a:pPr algn="ctr">
              <a:spcAft>
                <a:spcPts val="800"/>
              </a:spcAft>
            </a:pPr>
            <a:r>
              <a:rPr lang="en-US" kern="1200" dirty="0">
                <a:solidFill>
                  <a:srgbClr val="FFFFFF">
                    <a:alpha val="85000"/>
                  </a:srgbClr>
                </a:solidFill>
                <a:effectLst>
                  <a:outerShdw blurRad="50800" dist="38100" dir="2700000" algn="tl" rotWithShape="0">
                    <a:prstClr val="black">
                      <a:alpha val="40000"/>
                    </a:prstClr>
                  </a:outerShdw>
                </a:effectLst>
                <a:latin typeface="+mn-lt"/>
                <a:ea typeface="+mn-ea"/>
                <a:cs typeface="+mn-cs"/>
              </a:rPr>
              <a:t>Environmental Protection Agency Toxic Release Inventory tracks Escape and Stack point source air pollution</a:t>
            </a:r>
          </a:p>
          <a:p>
            <a:pPr algn="ctr">
              <a:spcAft>
                <a:spcPts val="800"/>
              </a:spcAft>
            </a:pPr>
            <a:r>
              <a:rPr lang="en-US" dirty="0">
                <a:solidFill>
                  <a:srgbClr val="FFFFFF">
                    <a:alpha val="85000"/>
                  </a:srgbClr>
                </a:solidFill>
                <a:effectLst>
                  <a:outerShdw blurRad="50800" dist="38100" dir="2700000" algn="tl" rotWithShape="0">
                    <a:prstClr val="black">
                      <a:alpha val="40000"/>
                    </a:prstClr>
                  </a:outerShdw>
                </a:effectLst>
              </a:rPr>
              <a:t>Census Bureau Tracts demographics in American Community Survey</a:t>
            </a:r>
            <a:endParaRPr lang="en-US" kern="1200" dirty="0">
              <a:solidFill>
                <a:srgbClr val="FFFFFF">
                  <a:alpha val="85000"/>
                </a:srgbClr>
              </a:solidFill>
              <a:effectLst>
                <a:outerShdw blurRad="50800" dist="38100" dir="2700000" algn="tl" rotWithShape="0">
                  <a:prstClr val="black">
                    <a:alpha val="40000"/>
                  </a:prstClr>
                </a:outerShdw>
              </a:effectLst>
            </a:endParaRPr>
          </a:p>
          <a:p>
            <a:pPr algn="r">
              <a:spcAft>
                <a:spcPts val="800"/>
              </a:spcAft>
            </a:pPr>
            <a:endParaRPr lang="en-US" kern="1200" dirty="0">
              <a:solidFill>
                <a:srgbClr val="FFFFFF"/>
              </a:solidFill>
              <a:latin typeface="+mn-lt"/>
              <a:ea typeface="+mn-ea"/>
              <a:cs typeface="+mn-cs"/>
            </a:endParaRPr>
          </a:p>
        </p:txBody>
      </p:sp>
      <p:sp>
        <p:nvSpPr>
          <p:cNvPr id="40" name="Rectangle 39">
            <a:extLst>
              <a:ext uri="{FF2B5EF4-FFF2-40B4-BE49-F238E27FC236}">
                <a16:creationId xmlns:a16="http://schemas.microsoft.com/office/drawing/2014/main" id="{5337EA23-6703-4C96-9EEB-A408CBDD6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592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1001391-0A8A-B16C-069E-207F5C8DCF5C}"/>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64BFCBCD-C8E2-74A8-F815-EA21DFED0BC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p:blipFill>
        <p:spPr>
          <a:xfrm>
            <a:off x="3321699" y="0"/>
            <a:ext cx="8870301" cy="6854323"/>
          </a:xfrm>
        </p:spPr>
      </p:pic>
      <p:sp>
        <p:nvSpPr>
          <p:cNvPr id="2" name="Title 1">
            <a:extLst>
              <a:ext uri="{FF2B5EF4-FFF2-40B4-BE49-F238E27FC236}">
                <a16:creationId xmlns:a16="http://schemas.microsoft.com/office/drawing/2014/main" id="{49E08356-E4B6-B18B-E806-5FE877257CE7}"/>
              </a:ext>
            </a:extLst>
          </p:cNvPr>
          <p:cNvSpPr>
            <a:spLocks noGrp="1"/>
          </p:cNvSpPr>
          <p:nvPr>
            <p:ph type="title"/>
          </p:nvPr>
        </p:nvSpPr>
        <p:spPr>
          <a:xfrm>
            <a:off x="0" y="0"/>
            <a:ext cx="3321699" cy="2841829"/>
          </a:xfrm>
          <a:noFill/>
        </p:spPr>
        <p:txBody>
          <a:bodyPr anchor="ctr" anchorCtr="0">
            <a:normAutofit/>
          </a:bodyPr>
          <a:lstStyle/>
          <a:p>
            <a:pPr algn="ctr"/>
            <a:r>
              <a:rPr lang="en-US" sz="4000" dirty="0"/>
              <a:t>Study Area</a:t>
            </a:r>
          </a:p>
        </p:txBody>
      </p:sp>
      <p:sp>
        <p:nvSpPr>
          <p:cNvPr id="3" name="Content Placeholder 2">
            <a:extLst>
              <a:ext uri="{FF2B5EF4-FFF2-40B4-BE49-F238E27FC236}">
                <a16:creationId xmlns:a16="http://schemas.microsoft.com/office/drawing/2014/main" id="{98BF5898-DFDF-F8AA-3B94-8C350FB50CD1}"/>
              </a:ext>
            </a:extLst>
          </p:cNvPr>
          <p:cNvSpPr>
            <a:spLocks noGrp="1"/>
          </p:cNvSpPr>
          <p:nvPr>
            <p:ph idx="1"/>
          </p:nvPr>
        </p:nvSpPr>
        <p:spPr>
          <a:xfrm>
            <a:off x="0" y="2841828"/>
            <a:ext cx="3321699" cy="4016171"/>
          </a:xfrm>
          <a:noFill/>
        </p:spPr>
        <p:txBody>
          <a:bodyPr>
            <a:normAutofit/>
          </a:bodyPr>
          <a:lstStyle/>
          <a:p>
            <a:pPr marL="285750" indent="-285750">
              <a:spcBef>
                <a:spcPts val="1200"/>
              </a:spcBef>
              <a:spcAft>
                <a:spcPts val="1200"/>
              </a:spcAft>
              <a:buFont typeface="Arial" panose="020B0604020202020204" pitchFamily="34" charset="0"/>
              <a:buChar char="•"/>
            </a:pPr>
            <a:r>
              <a:rPr lang="en-US" dirty="0"/>
              <a:t>Most Populous County in the United States</a:t>
            </a:r>
          </a:p>
          <a:p>
            <a:pPr marL="285750" indent="-285750">
              <a:spcBef>
                <a:spcPts val="1200"/>
              </a:spcBef>
              <a:spcAft>
                <a:spcPts val="1200"/>
              </a:spcAft>
              <a:buFont typeface="Arial" panose="020B0604020202020204" pitchFamily="34" charset="0"/>
              <a:buChar char="•"/>
            </a:pPr>
            <a:r>
              <a:rPr lang="pl-PL" dirty="0"/>
              <a:t>4,060 sq mi</a:t>
            </a:r>
            <a:br>
              <a:rPr lang="pl-PL" dirty="0"/>
            </a:br>
            <a:r>
              <a:rPr lang="pl-PL" dirty="0"/>
              <a:t>(10,515 km2)</a:t>
            </a:r>
          </a:p>
          <a:p>
            <a:pPr marL="285750" indent="-285750">
              <a:spcBef>
                <a:spcPts val="1200"/>
              </a:spcBef>
              <a:spcAft>
                <a:spcPts val="1200"/>
              </a:spcAft>
              <a:buFont typeface="Arial" panose="020B0604020202020204" pitchFamily="34" charset="0"/>
              <a:buChar char="•"/>
            </a:pPr>
            <a:r>
              <a:rPr lang="en-US" dirty="0"/>
              <a:t>2,496 Census Tracts including San Clemente and Santa Catalina Islands (Islands not included in analysis)</a:t>
            </a:r>
          </a:p>
          <a:p>
            <a:pPr marL="285750" indent="-285750">
              <a:spcBef>
                <a:spcPts val="1200"/>
              </a:spcBef>
              <a:spcAft>
                <a:spcPts val="1200"/>
              </a:spcAft>
              <a:buFont typeface="Arial" panose="020B0604020202020204" pitchFamily="34" charset="0"/>
              <a:buChar char="•"/>
            </a:pPr>
            <a:r>
              <a:rPr lang="en-US" dirty="0"/>
              <a:t>88 Incorporated Cities</a:t>
            </a:r>
          </a:p>
        </p:txBody>
      </p:sp>
    </p:spTree>
    <p:extLst>
      <p:ext uri="{BB962C8B-B14F-4D97-AF65-F5344CB8AC3E}">
        <p14:creationId xmlns:p14="http://schemas.microsoft.com/office/powerpoint/2010/main" val="2545326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CB4FEB-F2B1-B074-CE20-D7B0BE575FF4}"/>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9BF9A0CF-09D5-AA92-FAD4-6A082BC4872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321699" y="0"/>
            <a:ext cx="8870301" cy="6854323"/>
          </a:xfrm>
        </p:spPr>
      </p:pic>
      <p:sp>
        <p:nvSpPr>
          <p:cNvPr id="2" name="Title 1">
            <a:extLst>
              <a:ext uri="{FF2B5EF4-FFF2-40B4-BE49-F238E27FC236}">
                <a16:creationId xmlns:a16="http://schemas.microsoft.com/office/drawing/2014/main" id="{49D2923F-B7E6-CC75-42C1-12D2FEF77D04}"/>
              </a:ext>
            </a:extLst>
          </p:cNvPr>
          <p:cNvSpPr>
            <a:spLocks noGrp="1"/>
          </p:cNvSpPr>
          <p:nvPr>
            <p:ph type="title"/>
          </p:nvPr>
        </p:nvSpPr>
        <p:spPr>
          <a:xfrm>
            <a:off x="0" y="0"/>
            <a:ext cx="3321699" cy="2841829"/>
          </a:xfrm>
          <a:noFill/>
        </p:spPr>
        <p:txBody>
          <a:bodyPr anchor="ctr" anchorCtr="0">
            <a:normAutofit/>
          </a:bodyPr>
          <a:lstStyle/>
          <a:p>
            <a:pPr algn="ctr"/>
            <a:r>
              <a:rPr lang="en-US" sz="4000" dirty="0"/>
              <a:t>Inventoried Air Pollution</a:t>
            </a:r>
          </a:p>
        </p:txBody>
      </p:sp>
      <p:sp>
        <p:nvSpPr>
          <p:cNvPr id="3" name="Content Placeholder 2">
            <a:extLst>
              <a:ext uri="{FF2B5EF4-FFF2-40B4-BE49-F238E27FC236}">
                <a16:creationId xmlns:a16="http://schemas.microsoft.com/office/drawing/2014/main" id="{A28AAD91-7640-F206-297E-40498221325F}"/>
              </a:ext>
            </a:extLst>
          </p:cNvPr>
          <p:cNvSpPr>
            <a:spLocks noGrp="1"/>
          </p:cNvSpPr>
          <p:nvPr>
            <p:ph idx="1"/>
          </p:nvPr>
        </p:nvSpPr>
        <p:spPr>
          <a:xfrm>
            <a:off x="0" y="2841828"/>
            <a:ext cx="3321699" cy="4016171"/>
          </a:xfrm>
          <a:noFill/>
        </p:spPr>
        <p:txBody>
          <a:bodyPr>
            <a:normAutofit/>
          </a:bodyPr>
          <a:lstStyle/>
          <a:p>
            <a:pPr marL="285750" indent="-285750">
              <a:spcBef>
                <a:spcPts val="1200"/>
              </a:spcBef>
              <a:spcAft>
                <a:spcPts val="1200"/>
              </a:spcAft>
              <a:buFont typeface="Arial" panose="020B0604020202020204" pitchFamily="34" charset="0"/>
              <a:buChar char="•"/>
            </a:pPr>
            <a:r>
              <a:rPr lang="en-US" dirty="0"/>
              <a:t>327 sites on mainland inventory air pollution</a:t>
            </a:r>
          </a:p>
          <a:p>
            <a:pPr marL="285750" indent="-285750">
              <a:spcBef>
                <a:spcPts val="1200"/>
              </a:spcBef>
              <a:spcAft>
                <a:spcPts val="1200"/>
              </a:spcAft>
              <a:buFont typeface="Arial" panose="020B0604020202020204" pitchFamily="34" charset="0"/>
              <a:buChar char="•"/>
            </a:pPr>
            <a:r>
              <a:rPr lang="en-US" dirty="0"/>
              <a:t>Values Represent the sum of Escape and Stack for each site.</a:t>
            </a:r>
          </a:p>
          <a:p>
            <a:pPr marL="285750" indent="-285750">
              <a:spcBef>
                <a:spcPts val="1200"/>
              </a:spcBef>
              <a:spcAft>
                <a:spcPts val="1200"/>
              </a:spcAft>
              <a:buFont typeface="Arial" panose="020B0604020202020204" pitchFamily="34" charset="0"/>
              <a:buChar char="•"/>
            </a:pPr>
            <a:r>
              <a:rPr lang="en-US" dirty="0"/>
              <a:t>Top 5 polluters are all refineries</a:t>
            </a:r>
            <a:endParaRPr lang="pl-PL" dirty="0"/>
          </a:p>
        </p:txBody>
      </p:sp>
    </p:spTree>
    <p:extLst>
      <p:ext uri="{BB962C8B-B14F-4D97-AF65-F5344CB8AC3E}">
        <p14:creationId xmlns:p14="http://schemas.microsoft.com/office/powerpoint/2010/main" val="1537890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86DE80-6F38-7FD8-9ECE-484BA99716EC}"/>
            </a:ext>
          </a:extLst>
        </p:cNvPr>
        <p:cNvGrpSpPr/>
        <p:nvPr/>
      </p:nvGrpSpPr>
      <p:grpSpPr>
        <a:xfrm>
          <a:off x="0" y="0"/>
          <a:ext cx="0" cy="0"/>
          <a:chOff x="0" y="0"/>
          <a:chExt cx="0" cy="0"/>
        </a:xfrm>
      </p:grpSpPr>
      <p:sp>
        <p:nvSpPr>
          <p:cNvPr id="12" name="Freeform: Shape 11">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Oval 15">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8" name="Group 17">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9" name="Freeform: Shape 18">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Oval 20">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Oval 21">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4" name="Rectangle 23">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17">
            <a:extLst>
              <a:ext uri="{FF2B5EF4-FFF2-40B4-BE49-F238E27FC236}">
                <a16:creationId xmlns:a16="http://schemas.microsoft.com/office/drawing/2014/main" id="{65C7D19D-653D-7CCD-B8F9-CEC3D85BB73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1133" b="4598"/>
          <a:stretch>
            <a:fillRect/>
          </a:stretch>
        </p:blipFill>
        <p:spPr>
          <a:xfrm>
            <a:off x="20" y="1"/>
            <a:ext cx="1219198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accent5"/>
          </a:solidFill>
        </p:spPr>
      </p:pic>
      <p:sp>
        <p:nvSpPr>
          <p:cNvPr id="26" name="Rectangle 25">
            <a:extLst>
              <a:ext uri="{FF2B5EF4-FFF2-40B4-BE49-F238E27FC236}">
                <a16:creationId xmlns:a16="http://schemas.microsoft.com/office/drawing/2014/main" id="{AD4EA4DF-0E7C-4098-86F6-7D0ACAEFC0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7859713"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3B60A-A6D7-A2CE-F2DD-FA83CB585B31}"/>
              </a:ext>
            </a:extLst>
          </p:cNvPr>
          <p:cNvSpPr>
            <a:spLocks noGrp="1"/>
          </p:cNvSpPr>
          <p:nvPr>
            <p:ph type="ctrTitle"/>
          </p:nvPr>
        </p:nvSpPr>
        <p:spPr>
          <a:xfrm>
            <a:off x="550864" y="549275"/>
            <a:ext cx="4645250" cy="2887174"/>
          </a:xfrm>
        </p:spPr>
        <p:txBody>
          <a:bodyPr vert="horz" wrap="square" lIns="0" tIns="0" rIns="0" bIns="0" rtlCol="0" anchor="b" anchorCtr="0">
            <a:normAutofit fontScale="90000"/>
          </a:bodyPr>
          <a:lstStyle/>
          <a:p>
            <a:pPr>
              <a:lnSpc>
                <a:spcPct val="100000"/>
              </a:lnSpc>
            </a:pPr>
            <a:r>
              <a:rPr lang="en-US" sz="4800" kern="1200" dirty="0">
                <a:solidFill>
                  <a:schemeClr val="tx1"/>
                </a:solidFill>
                <a:latin typeface="+mj-lt"/>
                <a:ea typeface="+mj-ea"/>
                <a:cs typeface="+mj-cs"/>
              </a:rPr>
              <a:t>El Segundo Chevron Refinery Explosion</a:t>
            </a:r>
          </a:p>
        </p:txBody>
      </p:sp>
      <p:sp>
        <p:nvSpPr>
          <p:cNvPr id="28" name="Rectangle 27">
            <a:extLst>
              <a:ext uri="{FF2B5EF4-FFF2-40B4-BE49-F238E27FC236}">
                <a16:creationId xmlns:a16="http://schemas.microsoft.com/office/drawing/2014/main" id="{FE05BC49-0F00-4C85-9AF5-A0CC5B39C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469F3CA0-D831-C9C7-3770-9A129E12D822}"/>
              </a:ext>
            </a:extLst>
          </p:cNvPr>
          <p:cNvSpPr>
            <a:spLocks noGrp="1"/>
          </p:cNvSpPr>
          <p:nvPr>
            <p:ph type="subTitle" idx="1"/>
          </p:nvPr>
        </p:nvSpPr>
        <p:spPr>
          <a:xfrm>
            <a:off x="550863" y="3569007"/>
            <a:ext cx="3565525" cy="2523817"/>
          </a:xfrm>
        </p:spPr>
        <p:txBody>
          <a:bodyPr vert="horz" wrap="square" lIns="0" tIns="0" rIns="0" bIns="0" rtlCol="0">
            <a:normAutofit/>
          </a:bodyPr>
          <a:lstStyle/>
          <a:p>
            <a:pPr>
              <a:spcAft>
                <a:spcPts val="800"/>
              </a:spcAft>
            </a:pPr>
            <a:r>
              <a:rPr lang="en-US" sz="2000" kern="1200" dirty="0">
                <a:solidFill>
                  <a:schemeClr val="tx1">
                    <a:alpha val="60000"/>
                  </a:schemeClr>
                </a:solidFill>
                <a:latin typeface="+mn-lt"/>
                <a:ea typeface="+mn-ea"/>
                <a:cs typeface="+mn-cs"/>
              </a:rPr>
              <a:t>October 2</a:t>
            </a:r>
            <a:r>
              <a:rPr lang="en-US" sz="2000" kern="1200" baseline="30000" dirty="0">
                <a:solidFill>
                  <a:schemeClr val="tx1">
                    <a:alpha val="60000"/>
                  </a:schemeClr>
                </a:solidFill>
                <a:latin typeface="+mn-lt"/>
                <a:ea typeface="+mn-ea"/>
                <a:cs typeface="+mn-cs"/>
              </a:rPr>
              <a:t>nd</a:t>
            </a:r>
            <a:r>
              <a:rPr lang="en-US" sz="2000" kern="1200" dirty="0">
                <a:solidFill>
                  <a:schemeClr val="tx1">
                    <a:alpha val="60000"/>
                  </a:schemeClr>
                </a:solidFill>
                <a:latin typeface="+mn-lt"/>
                <a:ea typeface="+mn-ea"/>
                <a:cs typeface="+mn-cs"/>
              </a:rPr>
              <a:t>, 2025</a:t>
            </a:r>
          </a:p>
          <a:p>
            <a:pPr>
              <a:spcAft>
                <a:spcPts val="800"/>
              </a:spcAft>
            </a:pPr>
            <a:endParaRPr lang="en-US" sz="2000" dirty="0">
              <a:solidFill>
                <a:schemeClr val="tx1">
                  <a:alpha val="60000"/>
                </a:schemeClr>
              </a:solidFill>
            </a:endParaRPr>
          </a:p>
          <a:p>
            <a:pPr>
              <a:spcAft>
                <a:spcPts val="800"/>
              </a:spcAft>
            </a:pPr>
            <a:r>
              <a:rPr lang="en-US" sz="2000" kern="1200" dirty="0">
                <a:solidFill>
                  <a:schemeClr val="tx1">
                    <a:alpha val="60000"/>
                  </a:schemeClr>
                </a:solidFill>
                <a:latin typeface="+mn-lt"/>
                <a:ea typeface="+mn-ea"/>
                <a:cs typeface="+mn-cs"/>
              </a:rPr>
              <a:t>3</a:t>
            </a:r>
            <a:r>
              <a:rPr lang="en-US" sz="2000" kern="1200" baseline="30000" dirty="0">
                <a:solidFill>
                  <a:schemeClr val="tx1">
                    <a:alpha val="60000"/>
                  </a:schemeClr>
                </a:solidFill>
                <a:latin typeface="+mn-lt"/>
                <a:ea typeface="+mn-ea"/>
                <a:cs typeface="+mn-cs"/>
              </a:rPr>
              <a:t>rd</a:t>
            </a:r>
            <a:r>
              <a:rPr lang="en-US" sz="2000" kern="1200" dirty="0">
                <a:solidFill>
                  <a:schemeClr val="tx1">
                    <a:alpha val="60000"/>
                  </a:schemeClr>
                </a:solidFill>
                <a:latin typeface="+mn-lt"/>
                <a:ea typeface="+mn-ea"/>
                <a:cs typeface="+mn-cs"/>
              </a:rPr>
              <a:t> largest source of inventoried air pollution prior to fire</a:t>
            </a:r>
          </a:p>
        </p:txBody>
      </p:sp>
    </p:spTree>
    <p:extLst>
      <p:ext uri="{BB962C8B-B14F-4D97-AF65-F5344CB8AC3E}">
        <p14:creationId xmlns:p14="http://schemas.microsoft.com/office/powerpoint/2010/main" val="8689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70AFC36-B5EA-6E14-556C-7FE1DCD74E96}"/>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CF5DD88C-BFB7-CB3B-4898-909640A0BA9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0" y="3677"/>
            <a:ext cx="8870301" cy="6854323"/>
          </a:xfrm>
        </p:spPr>
      </p:pic>
      <p:sp>
        <p:nvSpPr>
          <p:cNvPr id="2" name="Title 1">
            <a:extLst>
              <a:ext uri="{FF2B5EF4-FFF2-40B4-BE49-F238E27FC236}">
                <a16:creationId xmlns:a16="http://schemas.microsoft.com/office/drawing/2014/main" id="{293B60B3-3CF3-8346-A054-88F400A1F985}"/>
              </a:ext>
            </a:extLst>
          </p:cNvPr>
          <p:cNvSpPr>
            <a:spLocks noGrp="1"/>
          </p:cNvSpPr>
          <p:nvPr>
            <p:ph type="title"/>
          </p:nvPr>
        </p:nvSpPr>
        <p:spPr>
          <a:xfrm>
            <a:off x="8870301" y="1"/>
            <a:ext cx="3321699" cy="2841829"/>
          </a:xfrm>
          <a:noFill/>
        </p:spPr>
        <p:txBody>
          <a:bodyPr anchor="ctr" anchorCtr="0">
            <a:normAutofit/>
          </a:bodyPr>
          <a:lstStyle/>
          <a:p>
            <a:pPr algn="ctr"/>
            <a:r>
              <a:rPr lang="en-US" sz="4000" dirty="0"/>
              <a:t>Racial Demographic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BFE0241-B795-BABA-4121-F03E0E36DA7C}"/>
                  </a:ext>
                </a:extLst>
              </p:cNvPr>
              <p:cNvSpPr>
                <a:spLocks noGrp="1"/>
              </p:cNvSpPr>
              <p:nvPr>
                <p:ph idx="1"/>
              </p:nvPr>
            </p:nvSpPr>
            <p:spPr>
              <a:xfrm>
                <a:off x="8870301" y="2841829"/>
                <a:ext cx="3321699" cy="4016171"/>
              </a:xfrm>
              <a:noFill/>
            </p:spPr>
            <p:txBody>
              <a:bodyPr>
                <a:normAutofit/>
              </a:bodyPr>
              <a:lstStyle/>
              <a:p>
                <a:pPr marL="285750" indent="-285750">
                  <a:spcBef>
                    <a:spcPts val="1200"/>
                  </a:spcBef>
                  <a:spcAft>
                    <a:spcPts val="1200"/>
                  </a:spcAft>
                  <a:buFont typeface="Arial" panose="020B0604020202020204" pitchFamily="34" charset="0"/>
                  <a:buChar char="•"/>
                </a:pPr>
                <a:r>
                  <a:rPr lang="en-US" dirty="0"/>
                  <a:t>Individuals self-identify on American Community Survey</a:t>
                </a:r>
              </a:p>
              <a:p>
                <a:pPr marL="285750" indent="-285750">
                  <a:spcBef>
                    <a:spcPts val="1200"/>
                  </a:spcBef>
                  <a:spcAft>
                    <a:spcPts val="1200"/>
                  </a:spcAft>
                  <a:buFont typeface="Arial" panose="020B0604020202020204" pitchFamily="34" charset="0"/>
                  <a:buChar char="•"/>
                </a:pP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1−</m:t>
                        </m:r>
                        <m:f>
                          <m:fPr>
                            <m:ctrlPr>
                              <a:rPr lang="en-US" i="1" dirty="0" smtClean="0">
                                <a:latin typeface="Cambria Math" panose="02040503050406030204" pitchFamily="18" charset="0"/>
                              </a:rPr>
                            </m:ctrlPr>
                          </m:fPr>
                          <m:num>
                            <m:r>
                              <m:rPr>
                                <m:nor/>
                              </m:rPr>
                              <a:rPr lang="en-US" i="0" dirty="0" smtClean="0">
                                <a:latin typeface="Cambria Math" panose="02040503050406030204" pitchFamily="18" charset="0"/>
                              </a:rPr>
                              <m:t>White</m:t>
                            </m:r>
                            <m:r>
                              <m:rPr>
                                <m:nor/>
                              </m:rPr>
                              <a:rPr lang="en-US" i="0" dirty="0" smtClean="0">
                                <a:latin typeface="Cambria Math" panose="02040503050406030204" pitchFamily="18" charset="0"/>
                              </a:rPr>
                              <m:t> </m:t>
                            </m:r>
                            <m:r>
                              <m:rPr>
                                <m:nor/>
                              </m:rPr>
                              <a:rPr lang="en-US" i="0" dirty="0" smtClean="0">
                                <a:latin typeface="Cambria Math" panose="02040503050406030204" pitchFamily="18" charset="0"/>
                              </a:rPr>
                              <m:t>Population</m:t>
                            </m:r>
                          </m:num>
                          <m:den>
                            <m:r>
                              <m:rPr>
                                <m:nor/>
                              </m:rPr>
                              <a:rPr lang="en-US" i="0" dirty="0" smtClean="0">
                                <a:latin typeface="Cambria Math" panose="02040503050406030204" pitchFamily="18" charset="0"/>
                              </a:rPr>
                              <m:t>Total</m:t>
                            </m:r>
                            <m:r>
                              <m:rPr>
                                <m:nor/>
                              </m:rPr>
                              <a:rPr lang="en-US" i="0" dirty="0" smtClean="0">
                                <a:latin typeface="Cambria Math" panose="02040503050406030204" pitchFamily="18" charset="0"/>
                              </a:rPr>
                              <m:t> </m:t>
                            </m:r>
                            <m:r>
                              <m:rPr>
                                <m:nor/>
                              </m:rPr>
                              <a:rPr lang="en-US" i="0" dirty="0" smtClean="0">
                                <a:latin typeface="Cambria Math" panose="02040503050406030204" pitchFamily="18" charset="0"/>
                              </a:rPr>
                              <m:t>Population</m:t>
                            </m:r>
                          </m:den>
                        </m:f>
                      </m:e>
                    </m:d>
                    <m:r>
                      <a:rPr lang="en-US" i="1" dirty="0" smtClean="0">
                        <a:latin typeface="Cambria Math" panose="02040503050406030204" pitchFamily="18" charset="0"/>
                      </a:rPr>
                      <m:t>×</m:t>
                    </m:r>
                    <m:r>
                      <a:rPr lang="en-US" i="1" dirty="0" err="1">
                        <a:latin typeface="Cambria Math" panose="02040503050406030204" pitchFamily="18" charset="0"/>
                      </a:rPr>
                      <m:t>100</m:t>
                    </m:r>
                  </m:oMath>
                </a14:m>
                <a:endParaRPr lang="en-US" dirty="0"/>
              </a:p>
              <a:p>
                <a:pPr marL="285750" indent="-285750">
                  <a:spcBef>
                    <a:spcPts val="1200"/>
                  </a:spcBef>
                  <a:spcAft>
                    <a:spcPts val="1200"/>
                  </a:spcAft>
                  <a:buFont typeface="Arial" panose="020B0604020202020204" pitchFamily="34" charset="0"/>
                  <a:buChar char="•"/>
                </a:pPr>
                <a:r>
                  <a:rPr lang="en-US" dirty="0"/>
                  <a:t>Since “Hispanic” is an ethnic qualifier separate from the race selection, white includes both Hispanic and Non-Hispanic white-identifying individuals in this analysis</a:t>
                </a:r>
                <a:endParaRPr lang="pl-PL" dirty="0"/>
              </a:p>
            </p:txBody>
          </p:sp>
        </mc:Choice>
        <mc:Fallback>
          <p:sp>
            <p:nvSpPr>
              <p:cNvPr id="3" name="Content Placeholder 2">
                <a:extLst>
                  <a:ext uri="{FF2B5EF4-FFF2-40B4-BE49-F238E27FC236}">
                    <a16:creationId xmlns:a16="http://schemas.microsoft.com/office/drawing/2014/main" id="{6BFE0241-B795-BABA-4121-F03E0E36DA7C}"/>
                  </a:ext>
                </a:extLst>
              </p:cNvPr>
              <p:cNvSpPr>
                <a:spLocks noGrp="1" noRot="1" noChangeAspect="1" noMove="1" noResize="1" noEditPoints="1" noAdjustHandles="1" noChangeArrowheads="1" noChangeShapeType="1" noTextEdit="1"/>
              </p:cNvSpPr>
              <p:nvPr>
                <p:ph idx="1"/>
              </p:nvPr>
            </p:nvSpPr>
            <p:spPr>
              <a:xfrm>
                <a:off x="8870301" y="2841829"/>
                <a:ext cx="3321699" cy="4016171"/>
              </a:xfrm>
              <a:blipFill>
                <a:blip r:embed="rId4"/>
                <a:stretch>
                  <a:fillRect l="-3853" t="-1821" r="-2569"/>
                </a:stretch>
              </a:blipFill>
            </p:spPr>
            <p:txBody>
              <a:bodyPr/>
              <a:lstStyle/>
              <a:p>
                <a:r>
                  <a:rPr lang="en-US">
                    <a:noFill/>
                  </a:rPr>
                  <a:t> </a:t>
                </a:r>
              </a:p>
            </p:txBody>
          </p:sp>
        </mc:Fallback>
      </mc:AlternateContent>
    </p:spTree>
    <p:extLst>
      <p:ext uri="{BB962C8B-B14F-4D97-AF65-F5344CB8AC3E}">
        <p14:creationId xmlns:p14="http://schemas.microsoft.com/office/powerpoint/2010/main" val="3350185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EC21186-0A41-01D2-BE43-0F84B1653AC5}"/>
            </a:ext>
          </a:extLst>
        </p:cNvPr>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C612A6F2-22BC-EFA0-F66B-D35BB96B499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0" y="3677"/>
            <a:ext cx="8870301" cy="6854323"/>
          </a:xfrm>
        </p:spPr>
      </p:pic>
      <p:sp>
        <p:nvSpPr>
          <p:cNvPr id="2" name="Title 1">
            <a:extLst>
              <a:ext uri="{FF2B5EF4-FFF2-40B4-BE49-F238E27FC236}">
                <a16:creationId xmlns:a16="http://schemas.microsoft.com/office/drawing/2014/main" id="{1CEE4B83-4C38-9035-1622-D24CDE986C11}"/>
              </a:ext>
            </a:extLst>
          </p:cNvPr>
          <p:cNvSpPr>
            <a:spLocks noGrp="1"/>
          </p:cNvSpPr>
          <p:nvPr>
            <p:ph type="title"/>
          </p:nvPr>
        </p:nvSpPr>
        <p:spPr>
          <a:xfrm>
            <a:off x="8870301" y="1"/>
            <a:ext cx="3321699" cy="2841829"/>
          </a:xfrm>
          <a:noFill/>
        </p:spPr>
        <p:txBody>
          <a:bodyPr anchor="ctr" anchorCtr="0">
            <a:normAutofit/>
          </a:bodyPr>
          <a:lstStyle/>
          <a:p>
            <a:pPr algn="ctr"/>
            <a:r>
              <a:rPr lang="en-US" sz="4000" dirty="0"/>
              <a:t>Pollution vs. Demographics 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09BB930-F7B2-77BE-FF8C-69A5A9196D52}"/>
                  </a:ext>
                </a:extLst>
              </p:cNvPr>
              <p:cNvSpPr>
                <a:spLocks noGrp="1"/>
              </p:cNvSpPr>
              <p:nvPr>
                <p:ph idx="1"/>
              </p:nvPr>
            </p:nvSpPr>
            <p:spPr>
              <a:xfrm>
                <a:off x="8870301" y="2841829"/>
                <a:ext cx="3321699" cy="4016171"/>
              </a:xfrm>
              <a:noFill/>
            </p:spPr>
            <p:txBody>
              <a:bodyPr>
                <a:normAutofit/>
              </a:bodyPr>
              <a:lstStyle/>
              <a:p>
                <a:pPr marL="285750" indent="-285750">
                  <a:spcBef>
                    <a:spcPts val="1200"/>
                  </a:spcBef>
                  <a:spcAft>
                    <a:spcPts val="1200"/>
                  </a:spcAft>
                  <a:buFont typeface="Arial" panose="020B0604020202020204" pitchFamily="34" charset="0"/>
                  <a:buChar char="•"/>
                </a:pPr>
                <a:r>
                  <a:rPr lang="en-US" dirty="0"/>
                  <a:t>Significant percentage of  Toxic Release Inventory locations are located within a census tract that is entirely comprised of an unpopulated industrial zone</a:t>
                </a:r>
              </a:p>
              <a:p>
                <a:pPr marL="285750" indent="-285750">
                  <a:spcBef>
                    <a:spcPts val="1200"/>
                  </a:spcBef>
                  <a:spcAft>
                    <a:spcPts val="1200"/>
                  </a:spcAft>
                  <a:buFont typeface="Arial" panose="020B0604020202020204" pitchFamily="34" charset="0"/>
                  <a:buChar char="•"/>
                </a:pPr>
                <a14:m>
                  <m:oMath xmlns:m="http://schemas.openxmlformats.org/officeDocument/2006/math">
                    <m:r>
                      <m:rPr>
                        <m:sty m:val="p"/>
                      </m:rPr>
                      <a:rPr lang="en-US" b="0" i="1" dirty="0" smtClean="0">
                        <a:latin typeface="Cambria Math" panose="02040503050406030204" pitchFamily="18" charset="0"/>
                      </a:rPr>
                      <m:t>Air</m:t>
                    </m:r>
                    <m:r>
                      <a:rPr lang="en-US" b="0" i="1" dirty="0" smtClean="0">
                        <a:latin typeface="Cambria Math" panose="02040503050406030204" pitchFamily="18" charset="0"/>
                      </a:rPr>
                      <m:t> </m:t>
                    </m:r>
                    <m:r>
                      <m:rPr>
                        <m:sty m:val="p"/>
                      </m:rPr>
                      <a:rPr lang="en-US" b="0" i="1" dirty="0" smtClean="0">
                        <a:latin typeface="Cambria Math" panose="02040503050406030204" pitchFamily="18" charset="0"/>
                      </a:rPr>
                      <m:t>pollution</m:t>
                    </m:r>
                    <m:r>
                      <a:rPr lang="en-US" b="0" i="1" dirty="0" smtClean="0">
                        <a:latin typeface="Cambria Math" panose="02040503050406030204" pitchFamily="18" charset="0"/>
                      </a:rPr>
                      <m:t> </m:t>
                    </m:r>
                    <m:r>
                      <m:rPr>
                        <m:sty m:val="p"/>
                      </m:rPr>
                      <a:rPr lang="en-US" b="0" i="1" dirty="0" smtClean="0">
                        <a:latin typeface="Cambria Math" panose="02040503050406030204" pitchFamily="18" charset="0"/>
                      </a:rPr>
                      <m:t>is</m:t>
                    </m:r>
                    <m:r>
                      <a:rPr lang="en-US" b="0" i="1" dirty="0" smtClean="0">
                        <a:latin typeface="Cambria Math" panose="02040503050406030204" pitchFamily="18" charset="0"/>
                      </a:rPr>
                      <m:t> </m:t>
                    </m:r>
                    <m:r>
                      <m:rPr>
                        <m:sty m:val="p"/>
                      </m:rPr>
                      <a:rPr lang="en-US" b="0" i="1" dirty="0" smtClean="0">
                        <a:latin typeface="Cambria Math" panose="02040503050406030204" pitchFamily="18" charset="0"/>
                      </a:rPr>
                      <m:t>not</m:t>
                    </m:r>
                    <m:r>
                      <a:rPr lang="en-US" b="0" i="1" dirty="0" smtClean="0">
                        <a:latin typeface="Cambria Math" panose="02040503050406030204" pitchFamily="18" charset="0"/>
                      </a:rPr>
                      <m:t> </m:t>
                    </m:r>
                    <m:r>
                      <m:rPr>
                        <m:sty m:val="p"/>
                      </m:rPr>
                      <a:rPr lang="en-US" b="0" i="1" dirty="0" smtClean="0">
                        <a:latin typeface="Cambria Math" panose="02040503050406030204" pitchFamily="18" charset="0"/>
                      </a:rPr>
                      <m:t>static</m:t>
                    </m:r>
                  </m:oMath>
                </a14:m>
                <a:endParaRPr lang="en-US" dirty="0"/>
              </a:p>
              <a:p>
                <a:pPr marL="285750" indent="-285750">
                  <a:spcBef>
                    <a:spcPts val="1200"/>
                  </a:spcBef>
                  <a:spcAft>
                    <a:spcPts val="1200"/>
                  </a:spcAft>
                  <a:buFont typeface="Arial" panose="020B0604020202020204" pitchFamily="34" charset="0"/>
                  <a:buChar char="•"/>
                </a:pPr>
                <a:r>
                  <a:rPr lang="en-US" dirty="0"/>
                  <a:t>Prevailing winds not considered in this analysis</a:t>
                </a:r>
                <a:endParaRPr lang="pl-PL" dirty="0"/>
              </a:p>
            </p:txBody>
          </p:sp>
        </mc:Choice>
        <mc:Fallback>
          <p:sp>
            <p:nvSpPr>
              <p:cNvPr id="3" name="Content Placeholder 2">
                <a:extLst>
                  <a:ext uri="{FF2B5EF4-FFF2-40B4-BE49-F238E27FC236}">
                    <a16:creationId xmlns:a16="http://schemas.microsoft.com/office/drawing/2014/main" id="{C09BB930-F7B2-77BE-FF8C-69A5A9196D52}"/>
                  </a:ext>
                </a:extLst>
              </p:cNvPr>
              <p:cNvSpPr>
                <a:spLocks noGrp="1" noRot="1" noChangeAspect="1" noMove="1" noResize="1" noEditPoints="1" noAdjustHandles="1" noChangeArrowheads="1" noChangeShapeType="1" noTextEdit="1"/>
              </p:cNvSpPr>
              <p:nvPr>
                <p:ph idx="1"/>
              </p:nvPr>
            </p:nvSpPr>
            <p:spPr>
              <a:xfrm>
                <a:off x="8870301" y="2841829"/>
                <a:ext cx="3321699" cy="4016171"/>
              </a:xfrm>
              <a:blipFill>
                <a:blip r:embed="rId4"/>
                <a:stretch>
                  <a:fillRect l="-3853" t="-1821" r="-2936"/>
                </a:stretch>
              </a:blipFill>
            </p:spPr>
            <p:txBody>
              <a:bodyPr/>
              <a:lstStyle/>
              <a:p>
                <a:r>
                  <a:rPr lang="en-US">
                    <a:noFill/>
                  </a:rPr>
                  <a:t> </a:t>
                </a:r>
              </a:p>
            </p:txBody>
          </p:sp>
        </mc:Fallback>
      </mc:AlternateContent>
    </p:spTree>
    <p:extLst>
      <p:ext uri="{BB962C8B-B14F-4D97-AF65-F5344CB8AC3E}">
        <p14:creationId xmlns:p14="http://schemas.microsoft.com/office/powerpoint/2010/main" val="2423362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252285" y="525462"/>
            <a:ext cx="2471877" cy="1684059"/>
          </a:xfrm>
        </p:spPr>
        <p:txBody>
          <a:bodyPr/>
          <a:lstStyle/>
          <a:p>
            <a:r>
              <a:rPr lang="en-US" dirty="0"/>
              <a:t>Further Analysis</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252286" y="2419350"/>
            <a:ext cx="2471877" cy="3913188"/>
          </a:xfrm>
        </p:spPr>
        <p:txBody>
          <a:bodyPr>
            <a:normAutofit/>
          </a:bodyPr>
          <a:lstStyle/>
          <a:p>
            <a:pPr marL="285750" indent="-285750">
              <a:spcBef>
                <a:spcPts val="1200"/>
              </a:spcBef>
              <a:spcAft>
                <a:spcPts val="1200"/>
              </a:spcAft>
              <a:buFont typeface="Arial" panose="020B0604020202020204" pitchFamily="34" charset="0"/>
              <a:buChar char="•"/>
            </a:pPr>
            <a:r>
              <a:rPr lang="en-US" dirty="0"/>
              <a:t>Tableau will only display values for unpopulated tracts with a default “0” for the Minority Population %</a:t>
            </a:r>
          </a:p>
          <a:p>
            <a:pPr marL="285750" indent="-285750">
              <a:spcBef>
                <a:spcPts val="1200"/>
              </a:spcBef>
              <a:spcAft>
                <a:spcPts val="1200"/>
              </a:spcAft>
              <a:buFont typeface="Arial" panose="020B0604020202020204" pitchFamily="34" charset="0"/>
              <a:buChar char="•"/>
            </a:pPr>
            <a:r>
              <a:rPr lang="en-US" dirty="0"/>
              <a:t>No linear correlation apparent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5" name="Picture 4" descr="A graph with numbers and lines&#10;&#10;AI-generated content may be incorrect.">
            <a:hlinkClick r:id="rId3"/>
            <a:extLst>
              <a:ext uri="{FF2B5EF4-FFF2-40B4-BE49-F238E27FC236}">
                <a16:creationId xmlns:a16="http://schemas.microsoft.com/office/drawing/2014/main" id="{C9F11353-21C1-A2E9-02BD-6209FD2A92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4163" y="849458"/>
            <a:ext cx="9300261" cy="5159084"/>
          </a:xfrm>
          <a:prstGeom prst="rect">
            <a:avLst/>
          </a:prstGeom>
        </p:spPr>
      </p:pic>
    </p:spTree>
    <p:extLst>
      <p:ext uri="{BB962C8B-B14F-4D97-AF65-F5344CB8AC3E}">
        <p14:creationId xmlns:p14="http://schemas.microsoft.com/office/powerpoint/2010/main" val="2665045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p:txBody>
          <a:bodyPr/>
          <a:lstStyle/>
          <a:p>
            <a:pPr>
              <a:spcBef>
                <a:spcPts val="1200"/>
              </a:spcBef>
              <a:spcAft>
                <a:spcPts val="1200"/>
              </a:spcAft>
            </a:pPr>
            <a:r>
              <a:rPr lang="en-US" dirty="0"/>
              <a:t>Does not include non-inventoried sources of air pollution like vehicular exhaust</a:t>
            </a:r>
          </a:p>
          <a:p>
            <a:pPr>
              <a:spcBef>
                <a:spcPts val="1200"/>
              </a:spcBef>
              <a:spcAft>
                <a:spcPts val="1200"/>
              </a:spcAft>
            </a:pPr>
            <a:r>
              <a:rPr lang="en-US" dirty="0"/>
              <a:t>Inclusion of wind-induced dispersal patterns would improve analysis</a:t>
            </a:r>
          </a:p>
          <a:p>
            <a:pPr>
              <a:spcBef>
                <a:spcPts val="1200"/>
              </a:spcBef>
              <a:spcAft>
                <a:spcPts val="1200"/>
              </a:spcAft>
            </a:pPr>
            <a:r>
              <a:rPr lang="en-US" dirty="0"/>
              <a:t>ACS includes sample-based estimations down to block group level, but decennial census includes racial demographics down to block level which may change results.</a:t>
            </a:r>
          </a:p>
          <a:p>
            <a:pPr>
              <a:spcBef>
                <a:spcPts val="1200"/>
              </a:spcBef>
              <a:spcAft>
                <a:spcPts val="1200"/>
              </a:spcAft>
            </a:pPr>
            <a:r>
              <a:rPr lang="en-US" dirty="0"/>
              <a:t>Analysis did not distinguish between white and white Hispanic</a:t>
            </a:r>
          </a:p>
        </p:txBody>
      </p:sp>
    </p:spTree>
    <p:extLst>
      <p:ext uri="{BB962C8B-B14F-4D97-AF65-F5344CB8AC3E}">
        <p14:creationId xmlns:p14="http://schemas.microsoft.com/office/powerpoint/2010/main" val="652841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4352240-14B9-B308-4EB6-9A13D1FB4D0A}"/>
            </a:ext>
          </a:extLst>
        </p:cNvPr>
        <p:cNvGrpSpPr/>
        <p:nvPr/>
      </p:nvGrpSpPr>
      <p:grpSpPr>
        <a:xfrm>
          <a:off x="0" y="0"/>
          <a:ext cx="0" cy="0"/>
          <a:chOff x="0" y="0"/>
          <a:chExt cx="0" cy="0"/>
        </a:xfrm>
      </p:grpSpPr>
      <p:sp>
        <p:nvSpPr>
          <p:cNvPr id="30" name="Freeform: Shape 29">
            <a:extLst>
              <a:ext uri="{FF2B5EF4-FFF2-40B4-BE49-F238E27FC236}">
                <a16:creationId xmlns:a16="http://schemas.microsoft.com/office/drawing/2014/main" id="{BB9231BF-6E5C-24D3-8E30-898BDD435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Oval 30">
            <a:extLst>
              <a:ext uri="{FF2B5EF4-FFF2-40B4-BE49-F238E27FC236}">
                <a16:creationId xmlns:a16="http://schemas.microsoft.com/office/drawing/2014/main" id="{AAFF7156-DDE5-9BBB-89FD-8B8AF62D8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Oval 31">
            <a:extLst>
              <a:ext uri="{FF2B5EF4-FFF2-40B4-BE49-F238E27FC236}">
                <a16:creationId xmlns:a16="http://schemas.microsoft.com/office/drawing/2014/main" id="{DF4031FD-B357-EB87-DD87-1BBE05759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3" name="Group 32">
            <a:extLst>
              <a:ext uri="{FF2B5EF4-FFF2-40B4-BE49-F238E27FC236}">
                <a16:creationId xmlns:a16="http://schemas.microsoft.com/office/drawing/2014/main" id="{6263692E-92F1-BD77-8F9B-8AD604589C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34" name="Freeform: Shape 33">
              <a:extLst>
                <a:ext uri="{FF2B5EF4-FFF2-40B4-BE49-F238E27FC236}">
                  <a16:creationId xmlns:a16="http://schemas.microsoft.com/office/drawing/2014/main" id="{73B80377-E034-E612-4171-66CCF3BD0A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88C52B2D-DA91-CED5-730B-E432E70212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Oval 35">
              <a:extLst>
                <a:ext uri="{FF2B5EF4-FFF2-40B4-BE49-F238E27FC236}">
                  <a16:creationId xmlns:a16="http://schemas.microsoft.com/office/drawing/2014/main" id="{BD0D79D4-F2A4-29C8-072E-D9ED836DB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Oval 36">
              <a:extLst>
                <a:ext uri="{FF2B5EF4-FFF2-40B4-BE49-F238E27FC236}">
                  <a16:creationId xmlns:a16="http://schemas.microsoft.com/office/drawing/2014/main" id="{1E86EBF2-8DD1-34E3-D3CC-CEFF6CB08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38" name="Rectangle 37">
            <a:extLst>
              <a:ext uri="{FF2B5EF4-FFF2-40B4-BE49-F238E27FC236}">
                <a16:creationId xmlns:a16="http://schemas.microsoft.com/office/drawing/2014/main" id="{0564FE52-AAC0-3A37-D4B0-619A9E9B8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17">
            <a:extLst>
              <a:ext uri="{FF2B5EF4-FFF2-40B4-BE49-F238E27FC236}">
                <a16:creationId xmlns:a16="http://schemas.microsoft.com/office/drawing/2014/main" id="{265AF4F9-A87C-26AC-91FC-D17E7F13A5D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5730"/>
          <a:stretch>
            <a:fillRect/>
          </a:stretch>
        </p:blipFill>
        <p:spPr>
          <a:xfrm>
            <a:off x="20" y="1"/>
            <a:ext cx="12191980" cy="6858000"/>
          </a:xfrm>
          <a:custGeom>
            <a:avLst/>
            <a:gdLst/>
            <a:ahLst/>
            <a:cxnLst/>
            <a:rect l="l" t="t" r="r" b="b"/>
            <a:pathLst>
              <a:path w="12192000" h="6858000">
                <a:moveTo>
                  <a:pt x="0" y="0"/>
                </a:moveTo>
                <a:lnTo>
                  <a:pt x="12192000" y="0"/>
                </a:lnTo>
                <a:lnTo>
                  <a:pt x="12192000" y="6858000"/>
                </a:lnTo>
                <a:lnTo>
                  <a:pt x="0" y="6858000"/>
                </a:lnTo>
                <a:close/>
              </a:path>
            </a:pathLst>
          </a:custGeom>
          <a:solidFill>
            <a:schemeClr val="accent5"/>
          </a:solidFill>
          <a:effectLst>
            <a:outerShdw blurRad="50800" dist="50800" dir="5400000" algn="ctr" rotWithShape="0">
              <a:schemeClr val="bg1"/>
            </a:outerShdw>
          </a:effectLst>
        </p:spPr>
      </p:pic>
      <p:sp>
        <p:nvSpPr>
          <p:cNvPr id="39" name="Rectangle 38">
            <a:extLst>
              <a:ext uri="{FF2B5EF4-FFF2-40B4-BE49-F238E27FC236}">
                <a16:creationId xmlns:a16="http://schemas.microsoft.com/office/drawing/2014/main" id="{DAD2820E-20A6-8F70-C384-866FB405B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2"/>
            <a:ext cx="12192000" cy="4857751"/>
          </a:xfrm>
          <a:prstGeom prst="rect">
            <a:avLst/>
          </a:prstGeom>
          <a:gradFill flip="none" rotWithShape="1">
            <a:gsLst>
              <a:gs pos="70000">
                <a:schemeClr val="bg2">
                  <a:alpha val="60000"/>
                </a:schemeClr>
              </a:gs>
              <a:gs pos="26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E242BB-181E-CD61-3D64-19B84002E512}"/>
              </a:ext>
            </a:extLst>
          </p:cNvPr>
          <p:cNvSpPr>
            <a:spLocks noGrp="1"/>
          </p:cNvSpPr>
          <p:nvPr>
            <p:ph type="ctrTitle"/>
          </p:nvPr>
        </p:nvSpPr>
        <p:spPr>
          <a:xfrm>
            <a:off x="324088" y="620918"/>
            <a:ext cx="7308849" cy="984885"/>
          </a:xfrm>
        </p:spPr>
        <p:txBody>
          <a:bodyPr vert="horz" wrap="square" lIns="0" tIns="0" rIns="0" bIns="0" rtlCol="0" anchor="ctr" anchorCtr="0">
            <a:normAutofit fontScale="90000"/>
          </a:bodyPr>
          <a:lstStyle/>
          <a:p>
            <a:pPr algn="ctr">
              <a:lnSpc>
                <a:spcPct val="100000"/>
              </a:lnSpc>
            </a:pPr>
            <a:r>
              <a:rPr lang="en-US" sz="4800" dirty="0"/>
              <a:t>Is inventoried air pollution higher in areas with higher minority population?</a:t>
            </a:r>
            <a:endParaRPr lang="en-US" sz="4800"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142FBC38-B52C-CF85-4B8B-6482A9BD7963}"/>
              </a:ext>
            </a:extLst>
          </p:cNvPr>
          <p:cNvSpPr>
            <a:spLocks noGrp="1"/>
          </p:cNvSpPr>
          <p:nvPr>
            <p:ph type="subTitle" idx="1"/>
          </p:nvPr>
        </p:nvSpPr>
        <p:spPr>
          <a:xfrm>
            <a:off x="8068587" y="2870725"/>
            <a:ext cx="3563938" cy="3820064"/>
          </a:xfrm>
          <a:solidFill>
            <a:schemeClr val="bg1">
              <a:alpha val="45000"/>
            </a:schemeClr>
          </a:solidFill>
          <a:effectLst>
            <a:outerShdw blurRad="50800" dist="38100" dir="2700000" algn="tl" rotWithShape="0">
              <a:prstClr val="black">
                <a:alpha val="40000"/>
              </a:prstClr>
            </a:outerShdw>
          </a:effectLst>
        </p:spPr>
        <p:txBody>
          <a:bodyPr vert="horz" wrap="square" lIns="0" tIns="0" rIns="0" bIns="0" rtlCol="0" anchor="ctr">
            <a:normAutofit/>
          </a:bodyPr>
          <a:lstStyle/>
          <a:p>
            <a:pPr algn="ctr">
              <a:spcAft>
                <a:spcPts val="800"/>
              </a:spcAft>
            </a:pPr>
            <a:r>
              <a:rPr lang="en-US" kern="1200" dirty="0">
                <a:solidFill>
                  <a:srgbClr val="FFFFFF">
                    <a:alpha val="85000"/>
                  </a:srgbClr>
                </a:solidFill>
                <a:effectLst>
                  <a:outerShdw blurRad="50800" dist="38100" dir="2700000" algn="tl" rotWithShape="0">
                    <a:prstClr val="black">
                      <a:alpha val="40000"/>
                    </a:prstClr>
                  </a:outerShdw>
                </a:effectLst>
                <a:latin typeface="+mn-lt"/>
                <a:ea typeface="+mn-ea"/>
                <a:cs typeface="+mn-cs"/>
              </a:rPr>
              <a:t>No apparent correlation found in this analysis.</a:t>
            </a:r>
          </a:p>
          <a:p>
            <a:pPr algn="ctr">
              <a:spcAft>
                <a:spcPts val="800"/>
              </a:spcAft>
            </a:pPr>
            <a:endParaRPr lang="en-US" dirty="0">
              <a:solidFill>
                <a:srgbClr val="FFFFFF">
                  <a:alpha val="85000"/>
                </a:srgbClr>
              </a:solidFill>
              <a:effectLst>
                <a:outerShdw blurRad="50800" dist="38100" dir="2700000" algn="tl" rotWithShape="0">
                  <a:prstClr val="black">
                    <a:alpha val="40000"/>
                  </a:prstClr>
                </a:outerShdw>
              </a:effectLst>
            </a:endParaRPr>
          </a:p>
          <a:p>
            <a:pPr algn="ctr">
              <a:spcAft>
                <a:spcPts val="800"/>
              </a:spcAft>
            </a:pPr>
            <a:r>
              <a:rPr lang="en-US" dirty="0">
                <a:solidFill>
                  <a:srgbClr val="FFFFFF">
                    <a:alpha val="85000"/>
                  </a:srgbClr>
                </a:solidFill>
                <a:effectLst>
                  <a:outerShdw blurRad="50800" dist="38100" dir="2700000" algn="tl" rotWithShape="0">
                    <a:prstClr val="black">
                      <a:alpha val="40000"/>
                    </a:prstClr>
                  </a:outerShdw>
                </a:effectLst>
              </a:rPr>
              <a:t>Other confounding variables may be involved such as median income, rental vs. home-ownership, etc.</a:t>
            </a:r>
            <a:endParaRPr lang="en-US" kern="1200" dirty="0">
              <a:solidFill>
                <a:srgbClr val="FFFFFF">
                  <a:alpha val="85000"/>
                </a:srgbClr>
              </a:solidFill>
              <a:effectLst>
                <a:outerShdw blurRad="50800" dist="38100" dir="2700000" algn="tl" rotWithShape="0">
                  <a:prstClr val="black">
                    <a:alpha val="40000"/>
                  </a:prstClr>
                </a:outerShdw>
              </a:effectLst>
            </a:endParaRPr>
          </a:p>
          <a:p>
            <a:pPr algn="r">
              <a:spcAft>
                <a:spcPts val="800"/>
              </a:spcAft>
            </a:pPr>
            <a:endParaRPr lang="en-US" kern="1200" dirty="0">
              <a:solidFill>
                <a:srgbClr val="FFFFFF"/>
              </a:solidFill>
              <a:latin typeface="+mn-lt"/>
              <a:ea typeface="+mn-ea"/>
              <a:cs typeface="+mn-cs"/>
            </a:endParaRPr>
          </a:p>
        </p:txBody>
      </p:sp>
      <p:sp>
        <p:nvSpPr>
          <p:cNvPr id="40" name="Rectangle 39">
            <a:extLst>
              <a:ext uri="{FF2B5EF4-FFF2-40B4-BE49-F238E27FC236}">
                <a16:creationId xmlns:a16="http://schemas.microsoft.com/office/drawing/2014/main" id="{65C50D2E-2D53-A948-80B7-AD4B0771E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8224104"/>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49CD38-5B57-4682-9FCE-B9174068D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 float design</Template>
  <TotalTime>4397</TotalTime>
  <Words>950</Words>
  <Application>Microsoft Office PowerPoint</Application>
  <PresentationFormat>Widescreen</PresentationFormat>
  <Paragraphs>95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 Math</vt:lpstr>
      <vt:lpstr>Gill Sans MT</vt:lpstr>
      <vt:lpstr>Walbaum Display</vt:lpstr>
      <vt:lpstr>3DFloatVTI</vt:lpstr>
      <vt:lpstr>Comparing Air Pollution to Racial Demographics in the County of Los Angeles</vt:lpstr>
      <vt:lpstr>Is inventoried air pollution higher in areas with higher minority population?</vt:lpstr>
      <vt:lpstr>Study Area</vt:lpstr>
      <vt:lpstr>Inventoried Air Pollution</vt:lpstr>
      <vt:lpstr>El Segundo Chevron Refinery Explosion</vt:lpstr>
      <vt:lpstr>Racial Demographic Distribution</vt:lpstr>
      <vt:lpstr>Pollution vs. Demographics Analysis</vt:lpstr>
      <vt:lpstr>Further Analysis</vt:lpstr>
      <vt:lpstr>Limitations</vt:lpstr>
      <vt:lpstr>Is inventoried air pollution higher in areas with higher minority population?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Keys, Dessa - (dakeys)</dc:creator>
  <cp:lastModifiedBy>Keys, Dessa - (dakeys)</cp:lastModifiedBy>
  <cp:revision>4</cp:revision>
  <dcterms:created xsi:type="dcterms:W3CDTF">2025-10-03T08:33:03Z</dcterms:created>
  <dcterms:modified xsi:type="dcterms:W3CDTF">2025-10-16T05:03:20Z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